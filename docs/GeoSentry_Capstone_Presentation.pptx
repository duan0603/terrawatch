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8C00"/>
                </a:solidFill>
              </a:defRPr>
            </a:pPr>
            <a:r>
              <a:t>ĐỒ ÁN TỐT NGHIỆP KỸ SƯ PHẦN MỀM (CAPSTONE PROJECT)</a:t>
            </a:r>
          </a:p>
          <a:p>
            <a:pPr>
              <a:spcBef>
                <a:spcPts val="600"/>
              </a:spcBef>
              <a:defRPr sz="4400" b="1">
                <a:solidFill>
                  <a:srgbClr val="FFFFFF"/>
                </a:solidFill>
              </a:defRPr>
            </a:pPr>
            <a:r>
              <a:t>GEOSENTRY (TERRAWATCH)</a:t>
            </a:r>
          </a:p>
          <a:p>
            <a:pPr>
              <a:spcBef>
                <a:spcPts val="800"/>
              </a:spcBef>
              <a:defRPr sz="1800">
                <a:solidFill>
                  <a:srgbClr val="00D4FF"/>
                </a:solidFill>
              </a:defRPr>
            </a:pPr>
            <a:r>
              <a:t>Hệ Thống Viễn Thám &amp; Trí Tuệ Nhân Tạo Cảnh Báo Sớm Sạt Lở Đất Miền Núi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840480"/>
            <a:ext cx="10698480" cy="2011680"/>
          </a:xfrm>
          <a:prstGeom prst="roundRect">
            <a:avLst/>
          </a:prstGeom>
          <a:solidFill>
            <a:srgbClr val="131E31"/>
          </a:solidFill>
          <a:ln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0" lIns="365760"/>
          <a:lstStyle/>
          <a:p>
            <a:pPr algn="ctr">
              <a:defRPr sz="1200" b="1">
                <a:solidFill>
                  <a:srgbClr val="FF8C00"/>
                </a:solidFill>
              </a:defRPr>
            </a:pPr>
            <a:r>
              <a:t>NHÓM SINH VIÊN THỰC HIỆN ĐỀ TÀI (5 THÀNH VIÊN WBS):</a:t>
            </a:r>
          </a:p>
          <a:p>
            <a:pPr>
              <a:spcBef>
                <a:spcPts val="200"/>
              </a:spcBef>
              <a:defRPr sz="1050">
                <a:solidFill>
                  <a:srgbClr val="FFFFFF"/>
                </a:solidFill>
              </a:defRPr>
            </a:pPr>
            <a:r>
              <a:t>1. Duẫn — AI / Computer Vision Engineer (Model DeepLabV3+ ONNX, Tensor 8 kênh, Xếp hạng mức nguy cơ)</a:t>
            </a:r>
          </a:p>
          <a:p>
            <a:pPr>
              <a:spcBef>
                <a:spcPts val="200"/>
              </a:spcBef>
              <a:defRPr sz="1050">
                <a:solidFill>
                  <a:srgbClr val="FFFFFF"/>
                </a:solidFill>
              </a:defRPr>
            </a:pPr>
            <a:r>
              <a:t>2. Tú — GIS Pipeline &amp; Data Engineer (Sentinel-2 Crawl, Cloud Masking, NDVI, DEM Slope, PostGIS)</a:t>
            </a:r>
          </a:p>
          <a:p>
            <a:pPr>
              <a:spcBef>
                <a:spcPts val="200"/>
              </a:spcBef>
              <a:defRPr sz="1050">
                <a:solidFill>
                  <a:srgbClr val="FFFFFF"/>
                </a:solidFill>
              </a:defRPr>
            </a:pPr>
            <a:r>
              <a:t>3. Thuận — Backend Engineer &amp; System Architect (Spring Boot 3, JWT 3 Roles, Phát cảnh báo SMS/Push, Gateway)</a:t>
            </a:r>
          </a:p>
          <a:p>
            <a:pPr>
              <a:spcBef>
                <a:spcPts val="200"/>
              </a:spcBef>
              <a:defRPr sz="1050">
                <a:solidFill>
                  <a:srgbClr val="FFFFFF"/>
                </a:solidFill>
              </a:defRPr>
            </a:pPr>
            <a:r>
              <a:t>4. Huy — Frontend WebGIS Engineer (React 18 + Vite, Mapbox 3D Terrain, Hàng đợi duyệt, Nút Cảnh báo Admin)</a:t>
            </a:r>
          </a:p>
          <a:p>
            <a:pPr>
              <a:spcBef>
                <a:spcPts val="200"/>
              </a:spcBef>
              <a:defRPr sz="1050">
                <a:solidFill>
                  <a:srgbClr val="FFFFFF"/>
                </a:solidFill>
              </a:defRPr>
            </a:pPr>
            <a:r>
              <a:t>5. Lâm — Mobile App Engineer (Flutter 3.x, SQLite Offline 10,000 đa giác, Geofencing Hú Còi, Nhận cảnh báo Push/SMS)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8C00"/>
                </a:solidFill>
              </a:defRPr>
            </a:pPr>
            <a:r>
              <a:t>GEOSENTRY • CAPSTONE DEFENSE 2026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TÍNH CẤP THIẾT &amp; 4 ĐIỂM NGHẼN TRONG CẢNH BÁO SẠT LỞ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73152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10512"/>
            <a:ext cx="21031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1. Phát Hiện Chậm Trễ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Phụ thuộc báo tin thủ công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Sạt lở xảy ra bất ngờ sau mưa dầm kéo dài tại vùng núi hiểm trở.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Điển hình: Vụ sạt lở Làng Nủ (Lào Cai) sau bão Yagi 2024.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Hiện tại chỉ phát hiện khi thảm họa đã ập xuống hoặc có người dân chạy bộ về báo.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Thiếu cơ chế quan trắc diện rộng tự động liên tục.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468880" cy="73152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810512"/>
            <a:ext cx="21031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8C00"/>
                </a:solidFill>
              </a:defRPr>
            </a:pPr>
            <a:r>
              <a:t>2. Mất Sóng Khi Mưa Bão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Mất kết nối hoàn toàn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Mưa bão quật đổ cột BTS, sạt đường đứt cáp viễn thông.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Các bản làng bị cô lập mất sạch 100% sóng 4G/Internet.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Người dân không thể nhận tin tức qua mạng khi di chuyển qua vùng nguy hiểm.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Ứng dụng thông thường hoàn toàn tê liệt khi không có Internet.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2468880" cy="73152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10512"/>
            <a:ext cx="21031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D4FF"/>
                </a:solidFill>
              </a:defRPr>
            </a:pPr>
            <a:r>
              <a:t>3. Bản Đồ 2D Thiếu Trực Quan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Hạn chế của bản đồ phẳng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Bản đồ 2D phẳng không thể hiện được độ dốc sườn núi hiểm trở.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Không quan sát được vết trượt bùn đất đang lan rộng theo hướng nào.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Cán bộ khó đánh giá tương quan giữa vách dốc và khu dân cư.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Khó đối chiếu ảnh vệ tinh trước và sau để thẩm định nguy cơ.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61120" y="1645920"/>
            <a:ext cx="246888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810512"/>
            <a:ext cx="21031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4. Cảnh Báo Thiếu Kịp Thời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Thiếu kênh cảnh báo tức thì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Thiếu công cụ cho người có thẩm quyền chủ động phát cảnh báo khẩn cấp.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Chưa tích hợp đồng thời kênh SMS trực tiếp và Push Notification di động.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Chưa có cơ chế lọc người nhận chính xác theo khu vực chịu ảnh hưởng.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Người dân không nhận được chỉ thị sơ tán khẩn cấp trước giờ 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8C00"/>
                </a:solidFill>
              </a:defRPr>
            </a:pPr>
            <a:r>
              <a:t>GEOSENTRY • CAPSTONE DEFENSE 2026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GIẢI PHÁP GEOSENTRY: HỆ SINH THÁI CẢNH BÁO SỚM SẠT LỞ ĐỒNG BỘ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73152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10512"/>
            <a:ext cx="475488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D4FF"/>
                </a:solidFill>
              </a:defRPr>
            </a:pPr>
            <a:r>
              <a:t>🛰️ Tầng Viễn Thám Vĩ Mô (Sentinel-2 + DEM)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Vệ tinh quét diện rộng không cần thiết bị hiện trường.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Lọc mây thông minh và tính chỉ số suy giảm thảm phủ Delta-NDVI.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Trích xuất độ dốc sườn đồi từ ảnh số độ cao SRTM 30m DEM.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2103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10512"/>
            <a:ext cx="475488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🧠 Tầng Phân Tích AI &amp; Xếp Hạng Nguy Cơ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DeepLabV3+ ONNX nhận diện đa giác vết trượt sạt lở (F1 = 0.768).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Tự động vector hóa ra chuẩn PostGIS MultiPolygon GeoJSON.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Tự động xếp hạng nguy cơ theo độ dốc và khoảng cách khu dân cư.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120640" cy="2103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5120640" cy="73152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79392"/>
            <a:ext cx="475488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8C00"/>
                </a:solidFill>
              </a:defRPr>
            </a:pPr>
            <a:r>
              <a:t>🖥️ Tầng Chỉ Huy &amp; Cảnh Báo (WebGIS Command Center)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Bản đồ địa hình Mapbox 3D Terrain sườn núi sống động.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Thanh trượt đối soát ảnh trước/sau và hàng đợi duyệt sạt lở 1-click.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Nút '🚨 Phát Cảnh Báo Khẩn Cấp' cho Admin gửi SMS + App Push.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114800"/>
            <a:ext cx="5120640" cy="2103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4114800"/>
            <a:ext cx="5120640" cy="73152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279392"/>
            <a:ext cx="475488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📱 Tầng Ngoại Tuyến Hiện Trường (Mobile Citizen App)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Cơ chế Geofencing Ngoại tuyến: SQLite lưu 10,000 đa giác sạt lở.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Rung chuông còi hú báo động âm lượng tối đa ngay khi mất sóng 4G.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Đăng ký nhận cảnh báo khẩn cấp và gửi báo cáo hiện trường.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8C00"/>
                </a:solidFill>
              </a:defRPr>
            </a:pPr>
            <a:r>
              <a:t>GEOSENTRY • CAPSTONE DEFENSE 2026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KIẾN TRÚC MICROSERVICES 8 THÀNH PHẦN CỐT LÕI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2103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73152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10512"/>
            <a:ext cx="210312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D4FF"/>
                </a:solidFill>
              </a:defRPr>
            </a:pPr>
            <a:r>
              <a:t>1. Clients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WebGIS React 18 + Mapbox GL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Mobile App Flutter 3.x + SQLite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Thiết kế Responsive &amp; Dark Theme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2103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468880" cy="73152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810512"/>
            <a:ext cx="210312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D4FF"/>
                </a:solidFill>
              </a:defRPr>
            </a:pPr>
            <a:r>
              <a:t>2. API Gateway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Nginx Reverse Proxy (Port 8080)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Rate Limiting 50 req/s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Global CORS &amp; Gzip Compression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2468880" cy="2103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246888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10512"/>
            <a:ext cx="210312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3. Core API Service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Java 17 + Spring Boot 3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Spring Security 6 + JWT 3 Roles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Duyệt sạt lở &amp; Phát cảnh báo khẩn cấp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45920"/>
            <a:ext cx="2468880" cy="2103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61120" y="1645920"/>
            <a:ext cx="246888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810512"/>
            <a:ext cx="210312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4. AI &amp; GIS Services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AI: FastAPI + ONNX Runtime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GIS: FastAPI + GDAL/Rasterio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Tách biệt Bounded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114800"/>
            <a:ext cx="2468880" cy="2103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4114800"/>
            <a:ext cx="2468880" cy="73152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79392"/>
            <a:ext cx="210312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8C00"/>
                </a:solidFill>
              </a:defRPr>
            </a:pPr>
            <a:r>
              <a:t>5. PostGIS Database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PostgreSQL 15 + PostGIS 3.3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Logical Schema-per-Service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core_schema &amp; gis_schema GiST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4114800"/>
            <a:ext cx="2468880" cy="2103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474720" y="4114800"/>
            <a:ext cx="2468880" cy="73152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4279392"/>
            <a:ext cx="210312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8C00"/>
                </a:solidFill>
              </a:defRPr>
            </a:pPr>
            <a:r>
              <a:t>6. Message Broker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Redis 7 Alpine Pub/Sub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Channel: terrawatch:events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Xử lý bất đồng bộ đa service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114800"/>
            <a:ext cx="2468880" cy="2103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7920" y="4114800"/>
            <a:ext cx="2468880" cy="73152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279392"/>
            <a:ext cx="210312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7. Fault Tolerance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Resilience4j Circuit Breaker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Ngắt mạch khi AI/GIS lỗi &gt;= 50%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Fallback queue, Core API không sập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114800"/>
            <a:ext cx="2468880" cy="2103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61120" y="4114800"/>
            <a:ext cx="2468880" cy="73152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0" y="4279392"/>
            <a:ext cx="210312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8. Kênh Phát Cảnh Báo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Firebase Cloud Messaging (FCM Push)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SMS Gateway (eSMS / SpeedSMS / Twilio)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Gửi đồng thời về App và số điện thoại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8C00"/>
                </a:solidFill>
              </a:defRPr>
            </a:pPr>
            <a:r>
              <a:t>THÀNH VIÊN 2 • GIS PIPELINE &amp; DATA ENGINEER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PHÂN HỆ GIS PIPELINE &amp; VIỄN THÁM (TÚ PHỤ TRÁCH)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73152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10512"/>
            <a:ext cx="30175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D4FF"/>
                </a:solidFill>
              </a:defRPr>
            </a:pPr>
            <a:r>
              <a:t>Thu Thập &amp; Lọc Mây Vệ Tinh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Copernicus API &amp; Cloud Masking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Tự động crawl ảnh Sentinel-2 L2A qua Copernicus CDSE / Sentinel Hub API.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Áp dụng thuật toán lọc mây thông minh dựa trên Scene Classification Layer (SCL / s2cloudless).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Tự động loại bỏ các khung cảnh bị mây che phủ &gt; 40%.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Lưu trữ siêu dữ liệu cảnh chụp vào gis_schema.satellite_scenes.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10512"/>
            <a:ext cx="30175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Tính Toán Chỉ Số Địa Không Gian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Delta-NDVI &amp; SRTM 30m DEM Slope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Tính toán biến động thực vật Delta-NDVI giữa cảnh trước và sau thiên tai bằng rasterio.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Trích xuất góc dốc địa hình sườn núi [0 - 90 độ] từ ảnh số độ cao SRTM 30m DEM.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Chuẩn hóa và đồng bộ hệ quy chiếu tọa độ địa lý WGS84 EPSG:4326.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Chuẩn bị ma trận 8 kênh hoàn chỉnh bàn giao cho phân hệ 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73152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10512"/>
            <a:ext cx="30175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8C00"/>
                </a:solidFill>
              </a:defRPr>
            </a:pPr>
            <a:r>
              <a:t>Tiling &amp; Raster-to-Vector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Tiling Engine &amp; Vector Tiles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Module Tiling băm lưới khu vực giám sát AOI thành các patch 128x128 pixel.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Băm lưới thông minh tính toán độ nén kinh độ theo vĩ độ và độ gối mép (stride overlap).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Thuật toán Raster-to-Vector (Polygonization) chuyển mặt nạ AI thành đa giác PostGIS MultiPolygon.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Phục vụ Vector Tiles MVT qua /tiles/{z}/{x}/{y}.pbf cho WebGIS.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8C00"/>
                </a:solidFill>
              </a:defRPr>
            </a:pPr>
            <a:r>
              <a:t>THÀNH VIÊN 1 • AI / COMPUTER VISION ENGINEER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PHÂN HỆ TRÍ TUỆ NHÂN TẠO &amp; HỌC SÂU (DUẪN PHỤ TRÁCH)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822960"/>
          </a:xfrm>
          <a:prstGeom prst="roundRect">
            <a:avLst/>
          </a:prstGeom>
          <a:solidFill>
            <a:srgbClr val="131E31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D4FF"/>
                </a:solidFill>
              </a:defRPr>
            </a:pPr>
            <a:r>
              <a:t>CHỈ SỐ ĐÁNH GIÁ MÔ HÌNH:   F1-Score: 0.768   |   IoU: 0.642   |   Độ trễ: &lt; 300ms   |   Đầu vào: Tensor 8 dải phổ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51760"/>
            <a:ext cx="3383280" cy="356616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3383280" cy="73152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16352"/>
            <a:ext cx="3017520" cy="3337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D4FF"/>
                </a:solidFill>
              </a:defRPr>
            </a:pPr>
            <a:r>
              <a:t>Semantic Segmentation Sạt Lở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DeepLabV3+ on Landslide4Sense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Kiến trúc DeepLabV3+ với Backbone ResNet-50 / EfficientNet kết hợp ASPP.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Huấn luyện trên tập dữ liệu chuẩn quốc tế Landslide4Sense (&gt; 3,799 mẫu).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Đầu vào 8 kênh: [B2, B3, B4, B8, B11, B12, NDVI, SLOPE].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Hàm mất mát Focal + Dice Loss giải quyết mất cân bằng mẫu nghiêm trọng (&lt; 2% diện tích sạt lở).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651760"/>
            <a:ext cx="3383280" cy="356616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2651760"/>
            <a:ext cx="338328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816352"/>
            <a:ext cx="3017520" cy="3337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Đóng Gói ONNX Runtime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High Performance Inference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Xuất mô hình PyTorch sang định dạng ONNX Runtime tối ưu.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Tốc độ suy luận CPU Intel chỉ 182ms, GPU RTX 3060 đạt 26ms/patch.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Triển khai qua FastAPI service độc lập tại port 8001.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Hỗ trợ chế độ chạy nền tự động xử lý hàng loạt khi có ảnh vệ tinh mới.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651760"/>
            <a:ext cx="3383280" cy="356616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2651760"/>
            <a:ext cx="3383280" cy="73152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816352"/>
            <a:ext cx="3017520" cy="3337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8C00"/>
                </a:solidFill>
              </a:defRPr>
            </a:pPr>
            <a:r>
              <a:t>Xếp Hạng Mức Nguy Cơ Sạt Lở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Automated Risk Scoring (FR2.3)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Tự động tính toán điểm nguy cơ dựa trên: độ dốc trung bình, diện tích khối trượt và độ tin cậy AI.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Truy vấn không gian PostGIS ST_Distance tính khoảng cách tới khu dân cư gần nhất.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Tự động gán nhãn risk_level: low, medium, high, extreme.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Ưu tiên đẩy các điểm sạt lở có nguy cơ đe dọa khu dân cư lên đầu hàng đợi thẩm định.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8C00"/>
                </a:solidFill>
              </a:defRPr>
            </a:pPr>
            <a:r>
              <a:t>THÀNH VIÊN 3 • BACKEND ENGINEER &amp; ARCHITECT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PHÂN HỆ BACKEND, SECURITY &amp; PHÁT CẢNH BÁO (THUẬN PHỤ TRÁCH)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73152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10512"/>
            <a:ext cx="30175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D4FF"/>
                </a:solidFill>
              </a:defRPr>
            </a:pPr>
            <a:r>
              <a:t>Core API &amp; Bảo Mật RBAC JWT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Spring Boot 3 &amp; Security 6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Phát triển trên nền tảng Java 17 + Spring Boot 3 công nghiệp.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Bảo mật Spring Security 6 với JWT Token phi trạng thái (Stateless).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Phân quyền RBAC 3 vai trò: citizen, officer, admin.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Băm mật khẩu bằng BCrypt; endpoint /api/v1/auth/** phục vụ đăng ký, đăng nhập an toàn.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73152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10512"/>
            <a:ext cx="30175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Resilience4j Circuit Breaker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Chống sập lan truyền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Bọc các kết nối gọi liên service sang AI và GIS bằng Circuit Breaker.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Cấu hình tự động chuyển sang OPEN khi tỷ lệ lỗi vượt quá 50% trong 10 calls.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Kích hoạt phương thức Fallback lưu request vào hàng đợi xử lý ngầm.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Core API được bảo vệ tuyệt đối, không bao giờ bị sập lan truyền (Cascading Failures).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10512"/>
            <a:ext cx="30175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Phát Cảnh Báo Khẩn Cấp &amp; Audit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SMS &amp; FCM Alert Broadcast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API phát cảnh báo khẩn cấp: Gửi đồng thời qua SMS Gateway và Firebase Cloud Messaging.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Lọc người nhận theo vùng quan tâm đăng ký (alert_subscriptions) qua truy vấn PostGIS ST_DWithin.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Lưu vết kiểm toán bất biến (Audit Trail) trong bảng landslide_event_history và alert_broadcasts.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Message Broker Redis 7 Pub/Sub xử lý gửi tin nhắn bất đồng bộ theo lô.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8C00"/>
                </a:solidFill>
              </a:defRPr>
            </a:pPr>
            <a:r>
              <a:t>THÀNH VIÊN 4 • FRONTEND WEBGIS ENGINEER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PHÂN HỆ WEBGIS COMMAND CENTER &amp; CẢNH BÁO (HUY PHỤ TRÁCH)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73152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10512"/>
            <a:ext cx="30175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D4FF"/>
                </a:solidFill>
              </a:defRPr>
            </a:pPr>
            <a:r>
              <a:t>Mapbox GL 3D Terrain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Địa hình 3D sườn núi chân thực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Phát triển bằng React 18 + Vite kết hợp Tailwind CSS.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Bật lớp bản đồ địa hình 3D (Terrain 3D Elevation) trên nền WebGL.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Mô phỏng chân thực độ dốc núi rừng hiểm trở các tỉnh Yên Bái, Lào Cai.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Cho phép cán bộ nghiêng, xoay camera 3D 360 độ để quan sát vết nứt sườn đồi.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10512"/>
            <a:ext cx="30175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Đối Soát Ảnh &amp; Thẩm Định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Time-slider Swipe &amp; 1-Click Approval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Tính năng Time-slider swipe: Kéo thanh trượt đối soát ảnh vệ tinh trước và sau sạt lở.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Cán bộ trực ban dễ dàng xác minh sự biến mất của thảm thực vật bằng mắt thường.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Hàng đợi thẩm định sạt lở 1-click: Xem thông tin diện tích, độ dốc, mức nguy cơ và duyệt nhanh.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Hiển thị các điểm báo cáo hiện trường từ người dân để đối chiếu thực tế.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73152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10512"/>
            <a:ext cx="30175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8C00"/>
                </a:solidFill>
              </a:defRPr>
            </a:pPr>
            <a:r>
              <a:t>Nút Phát Cảnh Báo Khẩn Cấp (Admin)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Emergency Broadcast Button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Nút bấm nổi bật '🚨 Phát Cảnh Báo Khẩn Cấp' chỉ hiển thị với vai trò Admin.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Chọn phạm vi vùng nguy hiểm theo điểm sạt lở (vùng đệm bán kính) hoặc toàn vùng giám sát.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Tùy chọn kênh gửi: SMS về số điện thoại, Push Notification về ứng dụng di động, hoặc cả hai.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Xem trước số người nhận và xác nhận 2 bước an toàn chống bấm nhầm.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8C00"/>
                </a:solidFill>
              </a:defRPr>
            </a:pPr>
            <a:r>
              <a:t>THÀNH VIÊN 5 • MOBILE APP ENGINEER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PHÂN HỆ MOBILE CITIZEN APP &amp; GEOFENCING NGOẠI TUYẾN (LÂM PHỤ TRÁCH)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73152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10512"/>
            <a:ext cx="30175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D4FF"/>
                </a:solidFill>
              </a:defRPr>
            </a:pPr>
            <a:r>
              <a:t>Geofencing Ngoại Tuyến Đột Phá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Offline-First SQLite &amp; Ray-Casting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Ứng dụng di động Flutter 3.x đa nền tảng (Android &amp; iOS).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Bộ nhớ đệm SQLite cục bộ lưu sẵn &gt;= 10,000 đa giác vùng nguy cơ sạt lở (&lt; 15MB).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Dịch vụ định vị chạy nền (Background Geolocation) liên tục quét tọa độ GPS mỗi 10 giây.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Thuật toán Haversine và Ray-Casting (Point-in-Polygon) kiểm tra không gian siêu tốc (&lt; 20ms).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73152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10512"/>
            <a:ext cx="30175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Còi Hú Báo Động Khẩn Cấp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Báo động khẩn khi mất mạng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Tự động kích hoạt khi người dân di chuyển vào vùng sạt lở nguy hiểm.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HOẠT ĐỘNG 100% NGOẠI TUYẾN ngay cả khi mất sạch sóng 4G/Internet.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Chớp màn hình đỏ cảnh báo, rung máy liên tục và hú còi âm lượng tối đa.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Có cơ chế bypass chế độ im lặng của điện thoại để đánh thức người dân trong đêm.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10512"/>
            <a:ext cx="30175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Nhận Cảnh Báo &amp; Báo Cáo Hiện Trường</a:t>
            </a:r>
          </a:p>
          <a:p>
            <a:pPr>
              <a:spcAft>
                <a:spcPts val="400"/>
              </a:spcAft>
              <a:defRPr sz="950">
                <a:solidFill>
                  <a:srgbClr val="9CB2C9"/>
                </a:solidFill>
              </a:defRPr>
            </a:pPr>
            <a:r>
              <a:t>Push/SMS Alert &amp; Field Reports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Nhận thông báo khẩn cấp toàn màn hình từ Admin qua Firebase Cloud Messaging (FCM).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Đăng ký vùng quan tâm và cập nhật số điện thoại nhận tin nhắn SMS cảnh báo.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Module Báo cáo hiện trường: Chụp ảnh thực địa và gửi tọa độ GPS vết nứt/trượt đất.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Lưu hàng đợi cục bộ tự động đồng bộ khi có lại kết nối mạng.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8C00"/>
                </a:solidFill>
              </a:defRPr>
            </a:pPr>
            <a:r>
              <a:t>GEOSENTRY • CAPSTONE DEFENSE 2026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LỘ TRÌNH TRIỂN KHAI, ĐỊNH HƯỚNG NÂNG CAO &amp; KẾT LUẬN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73152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10512"/>
            <a:ext cx="475488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D4FF"/>
                </a:solidFill>
              </a:defRPr>
            </a:pPr>
            <a:r>
              <a:t>🚀 Kế Hoạch 5 Tuần Tốc Lực (MVP)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Tuần 1: Dựng nền tảng, PostGIS &amp; Auth JWT 3 roles.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Tuần 2: Ingestion Sentinel-2, DEM Slope và API báo cáo hiện trường.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Tuần 3: Tích hợp mô hình ONNX thật, cắt ảnh Tiling và xếp hạng nguy cơ.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Tuần 4: Dashboard WebGIS thẩm định, Nút Cảnh Báo Khẩn Cấp Admin và Mobile FCM.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Tuần 5: Thông luồng 100%, kiểm thử tải và demo kịch bản thực tế Làng Nủ.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21031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1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73152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10512"/>
            <a:ext cx="475488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8C00"/>
                </a:solidFill>
              </a:defRPr>
            </a:pPr>
            <a:r>
              <a:t>📦 Nâng Cấp Capstone (Hướng phát triển Epic 6)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Trạm IoT ESP32 quan trắc rung chấn sườn dốc (cảm biến rung &amp; độ ẩm đất đẩy MQTT).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Tích hợp ảnh Radar SAR Sentinel-1 quan sát xuyên mây trong mùa mưa bão.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Tích hợp chỉ số mưa tích lũy Antecedent Rainfall Index (ARI) từ vệ tinh GPM NASA.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Chạy thử nghiệm trên tập dữ liệu thực tế Lào Cai / Yên Bái sau bão Yagi.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0698480" cy="2011680"/>
          </a:xfrm>
          <a:prstGeom prst="roundRect">
            <a:avLst/>
          </a:prstGeom>
          <a:solidFill>
            <a:srgbClr val="10281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🎯 KẾT LUẬN &amp; GIÁ TRỊ THỰC TIỄN CỦA ĐỒ ÁN GEOSENTRY: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1. Giải quyết bài toán cấp bách mang tính nhân văn sâu sắc: Giám sát, phát hiện và cảnh báo sớm thiên tai sạt lở đất bảo vệ người dân.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2. Hiện thực hóa kiến trúc Microservices 8 thành phần công nghiệp, kết hợp Viễn thám Sentinel-2, AI ONNX Runtime và WebGL 3D.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3. Tích hợp nút Phát Cảnh Báo Khẩn Cấp cho Admin: Chủ động cảnh báo người dân qua cả SMS và thông báo đẩy ứng dụng di động.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4. Đột phá với cơ chế Geofencing Ngoại tuyến: Đảm bảo người dân vẫn được còi hú cứu mạng ngay cả khi mất sạch 100% sóng 4G/Internet.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