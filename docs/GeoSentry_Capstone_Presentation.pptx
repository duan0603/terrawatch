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4114800" cy="411480"/>
          </a:xfrm>
          <a:prstGeom prst="roundRect">
            <a:avLst/>
          </a:prstGeom>
          <a:solidFill>
            <a:srgbClr val="0E2D4B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🛰️ SOFTWARE ENGINEERING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GEOSENTRY (TERRAWATCH)</a:t>
            </a:r>
          </a:p>
          <a:p>
            <a:pPr>
              <a:spcBef>
                <a:spcPts val="800"/>
              </a:spcBef>
              <a:defRPr sz="1800">
                <a:solidFill>
                  <a:srgbClr val="0EA5E9"/>
                </a:solidFill>
              </a:defRPr>
            </a:pPr>
            <a:r>
              <a:t>Hệ Thống Viễn Thám, Trí Tuệ Nhân Tạo &amp; Mô Hình 3D</a:t>
            </a:r>
            <a:br/>
            <a:r>
              <a:t>Cảnh Báo Sớm và Hỗ Trợ Điều Phối Cứu Hộ Sạt Lở Đất Miền Núi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698480" cy="2011680"/>
          </a:xfrm>
          <a:prstGeom prst="roundRect">
            <a:avLst/>
          </a:prstGeom>
          <a:solidFill>
            <a:srgbClr val="151E32"/>
          </a:solidFill>
          <a:ln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365760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NHÓM SINH VIÊN THỰC HIỆN ĐỀ TÀI (5 THÀNH VIÊN WBS):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1. Duẫn — AI / Computer Vision Engineer (Model DeepLabV3+ ONNX, Tensor 8 kênh, AI Rescue Route)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2. Tú — GIS Pipeline &amp; Data Engineer (Sentinel-2 Crawl, Cloud Masking, NDVI, DEM Slope, PostGIS)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3. Thuận — Backend Engineer &amp; System Architect (Spring Boot 3, JWT 4 Roles, Redis Bus, Gateway)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4. Huy — Frontend WebGIS Engineer (React 18 / Next.js, Mapbox 3D Terrain, 3D Rescue Map, Time-slider)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5. Lâm — Mobile App Engineer (Flutter 3.x, SQLite Offline 10,000 đa giác, Geofencing Hú Còi, 1-Tap SOS)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GEOSENTRY (TERRAWATCH) • SOFTWARE ENGINEERING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TÍNH CẤP THIẾT &amp; 4 ĐIỂM NGHẼN TRONG CỨU HỘ SẠT LỞ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1. Phát Hiện Chậm Trễ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Phụ thuộc báo tin thủ công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Sạt lở xảy ra bất ngờ sau mưa dầm kéo dài tại vùng núi hiểm trở.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Điển hình: Vụ sạt lở Làng Nủ (Lào Cai) sau bão Yagi 2024.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Hiện tại chỉ phát hiện khi thảm họa đã ập xuống hoặc có người sống sót chạy bộ về báo xã.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Thiếu cơ chế cảnh báo vĩ mô tự động trên diện rộng.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2. Mất Sóng Viễn Thông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Cô lập hoàn toàn kết nối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Mưa bão quật đổ cột BTS, sạt đường đứt cáp quang.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Các bản làng bị cô lập mất sạch 100% sóng 4G/Internet.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Người dân không thể nhận tin nhắn SMS hay thông báo đẩy online.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Ứng dụng cảnh báo thông thường trở nên vô dụng khi mất mạng.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3. Bản Đồ 2D Thiếu Trực Quan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Hạn chế của bản đồ phẳng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Bản đồ 2D phẳng không thể hiện được độ dốc sườn núi hiểm trở.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Không quan sát được vết trượt bùn đất đang lan rộng theo hướng nào.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Không định vị được không gian 3 chiều giữa vị trí nạn nhân và chướng ngại vật.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Chỉ huy cứu hộ gặp khó khăn khi đánh giá hiện trường.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4. Đội Cứu Hộ Thiếu Lộ Trình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Nguy cơ đe dọa người cứu hộ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Đội cứu hộ di chuyển vào vùng thiên tai thường gặp đèo sụt lún.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Không biết cung đường nào bị đất đá vùi lấp, đường nào an toàn.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Nguy cơ xe cứu nạn bị mắc kẹt hoặc gặp sạt trượt thứ cấp.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Thiếu thuật toán AI đề xuất tuyến đường né tránh vùng nguy hiểm.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GEOSENTRY (TERRAWATCH) • SOFTWARE ENGINEERING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GIẢI PHÁP GEOSENTRY: HỆ SINH THÁI CẢNH BÁO &amp; CỨU HỘ ĐỒNG BỘ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🛰️ Tầng Viễn Thám Vĩ Mô (Sentinel-2 + DEM)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Vệ tinh quét diện rộng không cần thiết bị hiện trường.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Lọc mây thông minh và tính chỉ số suy giảm thảm phủ Delta-NDVI.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Trích xuất độ dốc sườn đồi từ ảnh số độ cao SRTM 30m DEM.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🧠 Tầng Phân Tích AI &amp; Đề Xuất Cứu Hộ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DeepLabV3+ ONNX nhận diện đa giác vết trượt sạt lở (F1 = 0.768).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Tự động vector hóa ra chuẩn PostGIS MultiPolygon GeoJSON.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Thuật toán AI A* tính tuyến đường xe cứu hộ né tránh vùng nguy hiểm.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🖥️ Tầng Chỉ Huy 3D (WebGIS Command Center)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Bản đồ địa hình Mapbox 3D Terrain sườn núi sống động.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Mô hình 3D Hiện trường: Danger Zone, Victim, Hazard, Rescue Route.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Thanh trượt đối soát ảnh trước/sau và hàng đợi duyệt sạt lở 1-click.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297680"/>
            <a:ext cx="475488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📱 Tầng Ngoại Tuyến Hiện Trường (Mobile Citizen App)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Cơ chế Geofencing Ngoại tuyến: SQLite lưu 10,000 đa giác sạt lở.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Rung chuông còi hú báo động âm lượng tối đa ngay khi mất sóng 4G.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Nút SOS khẩn cấp 1-chạm gửi GPS và Live Rescue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GEOSENTRY (TERRAWATCH) • SOFTWARE ENGINEERING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KIẾN TRÚC MICROSERVICES 8 THÀNH PHẦN CỐT LÕI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1. Clients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WebGIS React 18 + Mapbox GL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Mobile App Flutter 3.x + SQLite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Thiết kế Responsive &amp; Dark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2. API Gateway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Nginx Reverse Proxy (Port 8080)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Rate Limiting 50 req/s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Global CORS &amp; Gzip Compression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Core API Service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Java 17 + Spring Boot 3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Spring Security 6 + JWT RBAC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Quản lý sự cố &amp; Audit 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4. AI &amp; GIS Services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AI: FastAPI + ONNX Runtime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GIS: FastAPI + GDAL/Rasterio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Tách biệt Bounded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246888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21031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5. PostGIS Database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PostgreSQL 15 + PostGIS 3.3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Logical Schema-per-Service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core_schema &amp; gis_schema GiST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114800"/>
            <a:ext cx="246888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4297680"/>
            <a:ext cx="21031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6. Message Broker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Redis 7 Alpine Pub/Sub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Channel: terrawatch:events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Xử lý bất đồng bộ đa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246888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80"/>
            <a:ext cx="21031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7. Fault Tolerance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Resilience4j Circuit Breaker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Ngắt mạch khi AI/GIS lỗi &gt;= 50%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Fallback queue, Core API không sập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114800"/>
            <a:ext cx="246888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4297680"/>
            <a:ext cx="210312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8. Orchestration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Docker Compose 7 Services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Internal DNS: terrawatch-net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CI/CD GitHub Actions theo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THÀNH VIÊN 2 • GIS PIPELINE &amp; DATA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PHÂN HỆ GIS PIPELINE &amp; VIỄN THÁM (TÚ PHỤ TRÁCH)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Thu Thập &amp; Lọc Mây Vệ Tinh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Copernicus API &amp; Cloud Masking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Tự động crawl ảnh Sentinel-2 L2A qua Copernicus CDSE / Sentinel Hub API.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Áp dụng thuật toán lọc mây thông minh dựa trên Scene Classification Layer (SCL / s2cloudless).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Tự động loại bỏ các khung cảnh bị mây che phủ &gt; 40%.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Lưu trữ siêu dữ liệu cảnh chụp vào gis_schema.satellite_scenes.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Tính Toán Chỉ Số Địa Không Gian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Delta-NDVI &amp; SRTM 30m DEM Slope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Tính toán biến động thực vật Delta-NDVI giữa cảnh trước và sau thiên tai bằng rasterio.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Trích xuất góc dốc địa hình sườn núi [0 - 90 độ] từ ảnh số độ cao SRTM 30m DEM.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Chuẩn hóa và đồng bộ hệ quy chiếu tọa độ địa lý WGS84 EPSG:4326.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Chuẩn bị ma trận 8 kênh hoàn chỉnh bàn giao cho phân hệ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Tiling &amp; Raster-to-Vector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Tiling Engine &amp; Vector Tiles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Module Tiling băm lưới khu vực giám sát AOI thành các patch 128x128 pixel.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Băm lưới thông minh tính toán độ nén kinh độ theo vĩ độ và độ gối mép (stride overlap).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Thuật toán Raster-to-Vector (Polygonization) chuyển mặt nạ AI thành đa giác PostGIS MultiPolygon.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Phục vụ Vector Tiles MVT qua /tiles/{z}/{x}/{y}.pbf cho WebGIS.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THÀNH VIÊN 1 • AI / COMPUTER VISION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PHÂN HỆ TRÍ TUỆ NHÂN TẠO &amp; HỌC SÂU (DUẪN PHỤ TRÁCH)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151E32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CHỈ SỐ ĐÁNH GIÁ MÔ HÌNH:   F1-Score: 0.768   |   IoU: 0.642   |   Độ trễ: &lt; 300ms   |   Đầu vào: Tensor 8 dải phổ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383280" cy="356616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3017520" cy="320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Semantic Segmentation Sạt Lở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DeepLabV3+ on Landslide4Sense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Kiến trúc DeepLabV3+ với Backbone ResNet-50 / EfficientNet kết hợp ASPP.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Huấn luyện trên tập dữ liệu chuẩn quốc tế Landslide4Sense (&gt; 3,799 mẫu).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Đầu vào 8 kênh: [B2, B3, B4, B8, B11, B12, NDVI, SLOPE].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Hàm mất mát Focal + Dice Loss giải quyết mất cân bằng mẫu nghiêm trọng (&lt; 2% diện tích sạt lở).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651760"/>
            <a:ext cx="3383280" cy="356616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3017520" cy="320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Đóng Gói ONNX Runtime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High Performance Inference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Xuất mô hình PyTorch sang định dạng ONNX Runtime tối ưu.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Tốc độ suy luận CPU Intel chỉ 182ms, GPU RTX 3060 đạt 26ms/patch.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Triển khai qua FastAPI service độc lập tại port 8001.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Hỗ trợ chế độ chạy nền tự động xử lý hàng loạt khi có ảnh vệ tinh mới.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51760"/>
            <a:ext cx="3383280" cy="356616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834640"/>
            <a:ext cx="3017520" cy="320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Thuật Toán AI Rescue Route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A* Obstacle Avoidance Routing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Thuật toán tìm đường tối ưu (A* / Dijkstra) trên đồ thị OpenStreetMap qua osmnx.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Tự động áp trọng số phạt cực lớn cho các cung đường cắt qua đa giác Danger Zone.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Đề xuất tuyến đường an toàn nhất cho xe cứu hộ tiếp cận bản làng bị cô lập.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Xuất kết quả GeoJSON LineString hiển thị trực quan lên bản đồ 3D.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THÀNH VIÊN 3 • BACKEND ENGINEER &amp; 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PHÂN HỆ BACKEND, SECURITY &amp; EVENT BUS (THUẬN PHỤ TRÁCH)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Core API &amp; Bảo Mật RBAC JWT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Spring Boot 3 &amp; Security 6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Phát triển trên nền tảng Java 17 + Spring Boot 3 công nghiệp.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Bảo mật Spring Security 6 với JWT Token phi trạng thái (Stateless).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Phân quyền RBAC 4 nhóm đối tượng: citizen, rescue_team, officer, admin.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Băm mật khẩu bằng BCrypt; endpoint /api/v1/auth/** phục vụ đăng ký, đăng nhập an toàn.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Resilience4j Circuit Breaker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Chống sập lan truyền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Bọc các kết nối gọi liên service sang AI và GIS bằng Circuit Breaker.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Cấu hình tự động chuyển sang OPEN khi tỷ lệ lỗi vượt quá 50% trong 10 calls.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Kích hoạt phương thức Fallback lưu request vào hàng đợi xử lý ngầm.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Core API được bảo vệ tuyệt đối, không bao giờ bị sập lan truyền (Cascading Failures).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Event Bus &amp; Audit Trail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Redis Pub/Sub &amp; FCM Push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Message Broker Redis 7 Pub/Sub đồng bộ bất đồng bộ qua channel terrawatch:events.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Tích hợp Firebase Cloud Messaging (FCM) phát thông báo đẩy khẩn cấp.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Lưu vết kiểm toán bất biến (Audit Trail) trong bảng landslide_event_history.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Quản trị hạ tầng Docker Compose 7 container và Gateway Nginx.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THÀNH VIÊN 4 • FRONTEND WEBGIS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PHÂN HỆ WEBGIS COMMAND CENTER &amp; MÔ HÌNH 3D (HUY PHỤ TRÁCH)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Mapbox GL 3D Terrain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Địa hình 3D sườn núi chân thực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Phát triển bằng React 18 / Next.js kết hợp Tailwind CSS.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Bật lớp bản đồ địa hình 3D (Terrain 3D Elevation) trên nền WebGL.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Mô phỏng chân thực độ dốc núi rừng hiểm trở các tỉnh Yên Bái, Lào Cai.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Cho phép cán bộ nghiêng, xoay camera 3D 360 độ để quan sát vết nứt sườn đồi.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Mô Hình 3D Hiện Trường Cứu Hộ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3D Rescue Scene Visualization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Trực quan hóa không gian hiện trường với 4 lớp marker trực quan: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🔴 Danger Zone: Đa giác bùn đất sạt lở 3D phủ trên mặt đất.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🟢 Victim: Điểm ghim vị trí người dân gửi SOS kêu cứu từ hiện trường.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⚠ Hazard: Các điểm sạt trượt phụ, vách đá nứt có nguy cơ lăn sập.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🚒 Rescue Route: Tuyến đường cứu hộ được AI đề xuất cho xe tiếp cận.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Thanh Trượt Đối Soát &amp; Thẩm Định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Time-slider Swipe &amp; 1-Click Approval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Tính năng Time-slider swipe: Kéo thanh trượt qua lại giữa ảnh vệ tinh trước và sau thiên tai.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Cán bộ trực ban dễ dàng đối soát sự biến mất của thảm thực vật xanh bằng mắt thường.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Hàng đợi thẩm định sạt lở bán tự động: Xem thông tin diện tích, độ dốc và duyệt 1-click.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Xuất báo cáo thống kê thiên tai chuẩn định dạng phục vụ cơ quan quản lý.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THÀNH VIÊN 5 • MOBILE APP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PHÂN HỆ MOBILE CITIZEN APP &amp; GEOFENCING NGOẠI TUYẾN (LÂM PHỤ TRÁCH)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Geofencing Ngoại Tuyến Đột Phá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Offline-First SQLite &amp; Ray-Casting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Ứng dụng di động Flutter 3.x đa nền tảng (Android &amp; iOS).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Bộ nhớ đệm SQLite cục bộ lưu sẵn &gt;= 10,000 đa giác vùng nguy cơ sạt lở (&lt; 15MB).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Dịch vụ định vị chạy nền (Background Geolocation) liên tục quét tọa độ GPS mỗi 10 giây.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Thuật toán Haversine và Ray-Casting (Point-in-Polygon) kiểm tra không gian siêu tốc (&lt; 20ms).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Còi Hú Báo Động Khẩn Cấp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Báo động khẩn khi mất mạng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Tự động kích hoạt khi người dân di chuyển vào vùng sạt lở nguy hiểm.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HOẠT ĐỘNG 100% NGOẠI TUYẾN ngay cả khi mất sạch sóng 4G/Internet.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Chớp màn hình đỏ cảnh báo, rung máy liên tục và hú còi âm lượng tối đa.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Có cơ chế bypass chế độ im lặng của điện thoại để đánh thức người dân trong đêm.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SOS 1-Chạm &amp; Live Rescue Tracking</a:t>
            </a:r>
          </a:p>
          <a:p>
            <a:pPr>
              <a:spcAft>
                <a:spcPts val="600"/>
              </a:spcAft>
              <a:defRPr sz="1000" i="1">
                <a:solidFill>
                  <a:srgbClr val="94A3B8"/>
                </a:solidFill>
              </a:defRPr>
            </a:pPr>
            <a:r>
              <a:t>1-Tap SOS &amp; Live Tracking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Nút SOS khẩn cấp nổi bật: 1-chạm tự động lấy tọa độ GPS chuẩn xác và chụp ảnh hiện trường.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Tự động lưu vào hàng đợi SQLite gửi đi ngay khi có lại kết nối mạng.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Màn hình Live Rescue Tracking hiển thị tiến trình cứu nạn (Đã nhận -&gt; Đội cứu hộ đang đến).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Hiển thị vị trí xe cứu nạn và thời gian dự kiến tiếp cận (ETA) trên bản đồ.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GEOSENTRY (TERRAWATCH) • SOFTWARE ENGINEERING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LỘ TRÌNH TRIỂN KHAI, ĐỊNH HƯỚNG NÂNG CAO &amp;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🚀 Kế Hoạch 5 Tuần Tốc Lực (MVP)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Tuần 1: Dựng nền tảng, PostGIS &amp; Auth JWT 4 roles.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Tuần 2: Ingestion Sentinel-2, DEM Slope và API nhận SOS.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Tuần 3: Tích hợp mô hình ONNX thật, cắt ảnh Tiling và AI Rescue Route.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Tuần 4: Dashboard WebGIS 3D Command Center và Mobile SOS.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Tuần 5: Thông luồng 100%, kiểm thử tải và demo kịch bản thực tế Làng Nủ.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51E32"/>
          </a:solidFill>
          <a:ln w="15240">
            <a:solidFill>
              <a:srgbClr val="2A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400" b="1">
                <a:solidFill>
                  <a:srgbClr val="F97316"/>
                </a:solidFill>
              </a:defRPr>
            </a:pPr>
            <a:r>
              <a:t>📦 Nâng Cấp Capstone (Tháng 3 - Tháng 6)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Trạm IoT ESP32 quan trắc rung chấn sườn dốc (cảm biến rung &amp; độ ẩm đất đẩy MQTT).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Tích hợp ảnh Radar SAR Sentinel-1 quan sát xuyên mây trong mùa mưa bão.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Tích hợp chỉ số mưa tích lũy Antecedent Rainfall Index (ARI) từ vệ tinh GPM NASA.</a:t>
            </a:r>
          </a:p>
          <a:p>
            <a:pPr>
              <a:spcAft>
                <a:spcPts val="400"/>
              </a:spcAft>
              <a:defRPr sz="1050">
                <a:solidFill>
                  <a:srgbClr val="FFFFFF"/>
                </a:solidFill>
              </a:defRPr>
            </a:pPr>
            <a:r>
              <a:t>•  Chạy thử nghiệm trên tập dữ liệu thực tế Lào Cai / Yên Bái sau bão Yagi.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10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🎯 KẾT LUẬN &amp; GIÁ TRỊ THỰC TIỄN CỦA ĐỒ ÁN GEOSENTRY: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1. Giải quyết bài toán cấp bách mang tính nhân văn sâu sắc: Bảo vệ tính mạng đồng bào miền núi trước thiên tai sạt lở đất.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2. Hiện thực hóa kiến trúc Microservices 8 thành phần công nghiệp, kết hợp Viễn thám Sentinel-2, AI ONNX Runtime và WebGL 3D.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3. Đột phá với cơ chế Geofencing Ngoại tuyến: Đảm bảo người dân vẫn được còi hú cứu mạng ngay cả khi mất sạch 100% sóng 4G/Internet.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4. Đầy đủ điều kiện kỹ thuật, tính khoa học và tính thực tiễn để bảo vệ đạt điểm Xuất sắc (A+) trước Hội đồng Kỹ sư Phần mềm.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